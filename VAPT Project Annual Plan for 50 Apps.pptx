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9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1138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586D5-A8A7-74AB-4239-898F16ADCE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4FF9E7-9F0A-F977-E8E0-0E8BC772782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4C2EBF-2D6D-7E02-187C-C3230BC9F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43DE7C-033D-8800-F74E-D8FBB2CA0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8CAF7A-CA2D-8319-9B4F-FC0543F2C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607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F19EC6-6809-9BEA-21B5-0C40035D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76F385-7109-4904-4A87-2958C6FC6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DA5DD-6413-81FF-4D43-7E2F5C50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DC53F0-435E-984A-AFC7-C588380008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4A5A6-C9CA-9E7F-C074-48523FC10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54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FF4107-1592-46A5-4251-71926AF9EE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EF872B-A26A-AB95-F3F8-520E71F4EF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4F945-FBB0-8148-5535-BD141E699B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8973C9-8FF0-8FA7-844B-595003A37A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82E8FA-8670-38D1-0D1E-8AF0D3BC6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9124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085D-8CD7-76E5-856D-F46F16828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9FF89-7B46-C1A9-9117-183E4BE334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82B432-F56A-E7D4-D9E0-6EB3629E8E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653F1F-1907-7993-3AB1-DE5AD0E58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C7D9FD-ABBE-7D2B-E2D6-8585BD7A62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C62EFA-586A-69FB-B26E-F60B538E7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9534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54B8A-EE29-A64C-FCCD-D29961635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66B038-CFA6-1597-8B72-DE6652B57E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32C3BE-2100-1F81-A4B5-8A3BE5078E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A7A56C-EB23-3024-B599-78CB47F4DD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562005D-145A-B0B5-3957-50AD4F46148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BFA16F-0F32-95DB-323B-F640F6B9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5898BF8-497B-5E20-FF56-85DAB280C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39FACF-7A57-135F-6A8E-A393EA2BE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9924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846B2-03B8-FB38-5F65-713183D8B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E02B58-E2C9-DED5-3CA5-8C77BBDD3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E8C93F-561E-66D2-3C4A-E2C78B98F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FF809E-127E-C354-AFFD-F0C77E39BE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7861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35A614-963A-87E1-CE8E-48FB01E61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3B2DDF-6FA6-F0A8-12E1-6DC1D409D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B718FE-BA1E-4B85-3234-6EBEC19CF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02216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9D19-800B-8BCC-CB09-788B455431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A63DA-AFEA-E680-85DE-7438C5681A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D205FA-BF05-D0EA-1927-CF932CB1F6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B20065-ADDA-3132-AA76-E390D5C47A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08BFB7-12E1-C4FF-EB85-7FF11F1BB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C6401C-124D-F97E-F550-4968CAD73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152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1BCF4-3ED1-F99B-3377-8BF2965069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EFEDA5-BE62-72E6-9CFA-5D676169161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57A0B9-258D-5B72-9720-C1D65A7DCF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A9AC-BE5D-270F-AE67-7B4A284C85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0109EB-D25C-A7C9-A9BF-EC45D8802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C6F23C-4039-061D-F0B5-B360F23EC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76772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7EE2EC-96DC-1256-0591-8707AD0AFC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32DC7B-F960-F6F6-B55F-4129BF65C7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6DAA6D-57EC-9223-3916-A146792124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3F8853-325E-3C71-2CEE-89960BD084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1C03E9-6391-E454-096F-9F620C6C3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920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F47B4E-9044-A40B-359F-2AB5BCADBD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B9BA8F-E88B-C59C-B0EF-4FE3304B6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7115F-6137-1E4B-E8EA-D14023765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DF7946-2AB0-0EEE-CA5D-EF40E38F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5F1343-0ECC-8DF6-36AC-4427E55BE6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165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DDE1F4-0EC2-50F6-11B9-FB466C784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81A6B-3047-C9E6-473D-AAF7AA7AD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FAC72-C066-07F2-78B0-7B4231F0AB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C31D42-60B6-4DAC-AF43-23A868B6F6C8}" type="datetimeFigureOut">
              <a:rPr lang="en-IN" smtClean="0"/>
              <a:t>24-11-2025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9ED09B-59D5-775A-C878-99CED199B0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BB4CE-BA62-185D-C461-FE3629EC42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A52B7D-1904-4021-9D77-49597530E8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090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F15D3-E01B-4C89-45FF-2E189ED550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VAPT Project Annual Plan for 50 Apps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57878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F0BAE-613A-19F5-4E09-12E509D48A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8153-DEE9-7019-911C-BF138FF58D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Application inventory finalization</a:t>
            </a:r>
          </a:p>
          <a:p>
            <a:r>
              <a:rPr lang="en-IN" dirty="0"/>
              <a:t>Risk ranking (Critical/High/Medium/Low)</a:t>
            </a:r>
          </a:p>
          <a:p>
            <a:r>
              <a:rPr lang="en-IN" dirty="0"/>
              <a:t>Prioritization of apps</a:t>
            </a:r>
          </a:p>
          <a:p>
            <a:r>
              <a:rPr lang="en-IN" dirty="0"/>
              <a:t>Stakeholder onboarding</a:t>
            </a:r>
          </a:p>
          <a:p>
            <a:r>
              <a:rPr lang="en-IN" dirty="0"/>
              <a:t>Define tooling (Burp, Nessus, </a:t>
            </a:r>
            <a:r>
              <a:rPr lang="en-IN" dirty="0" err="1"/>
              <a:t>MobSF</a:t>
            </a:r>
            <a:r>
              <a:rPr lang="en-IN" dirty="0"/>
              <a:t>, ZAP, Postman, etc.)</a:t>
            </a:r>
          </a:p>
          <a:p>
            <a:r>
              <a:rPr lang="en-IN" dirty="0"/>
              <a:t>Establish reporting templates &amp; SLAs</a:t>
            </a:r>
          </a:p>
          <a:p>
            <a:r>
              <a:rPr lang="en-US" dirty="0"/>
              <a:t>Set up communication channels (Jira/ServiceNow for tracking)</a:t>
            </a:r>
          </a:p>
          <a:p>
            <a:r>
              <a:rPr lang="en-US" dirty="0"/>
              <a:t>Weekly progress reviews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9448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19058-9EED-3E49-1D73-4FE659961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Project Plan – 50 Apps VAPT in 1 Year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627B09-D076-F669-1EB9-CEB1CC195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1. High-Level Targets</a:t>
            </a:r>
          </a:p>
          <a:p>
            <a:r>
              <a:rPr lang="en-US" b="1" dirty="0"/>
              <a:t>Total apps:</a:t>
            </a:r>
            <a:r>
              <a:rPr lang="en-US" dirty="0"/>
              <a:t> 50</a:t>
            </a:r>
          </a:p>
          <a:p>
            <a:r>
              <a:rPr lang="en-US" b="1" dirty="0"/>
              <a:t>Project duration:</a:t>
            </a:r>
            <a:r>
              <a:rPr lang="en-US" dirty="0"/>
              <a:t> 12 months</a:t>
            </a:r>
          </a:p>
          <a:p>
            <a:r>
              <a:rPr lang="en-US" b="1" dirty="0"/>
              <a:t>Average apps per month:</a:t>
            </a:r>
            <a:r>
              <a:rPr lang="en-US" dirty="0"/>
              <a:t> ~4–5</a:t>
            </a:r>
          </a:p>
          <a:p>
            <a:r>
              <a:rPr lang="en-US" b="1" dirty="0"/>
              <a:t>VAPT time per app:</a:t>
            </a:r>
            <a:endParaRPr lang="en-US" dirty="0"/>
          </a:p>
          <a:p>
            <a:pPr lvl="1"/>
            <a:r>
              <a:rPr lang="en-US" b="1" dirty="0"/>
              <a:t>Web/API:</a:t>
            </a:r>
            <a:r>
              <a:rPr lang="en-US" dirty="0"/>
              <a:t> 1–2 weeks</a:t>
            </a:r>
          </a:p>
          <a:p>
            <a:pPr lvl="1"/>
            <a:r>
              <a:rPr lang="en-US" b="1" dirty="0"/>
              <a:t>Mobile:</a:t>
            </a:r>
            <a:r>
              <a:rPr lang="en-US" dirty="0"/>
              <a:t> 2–3 weeks</a:t>
            </a:r>
          </a:p>
          <a:p>
            <a:pPr lvl="1"/>
            <a:r>
              <a:rPr lang="en-US" b="1" dirty="0"/>
              <a:t>Thick client:</a:t>
            </a:r>
            <a:r>
              <a:rPr lang="en-US" dirty="0"/>
              <a:t> 3 weeks</a:t>
            </a:r>
          </a:p>
          <a:p>
            <a:r>
              <a:rPr lang="en-US" b="1" dirty="0"/>
              <a:t>Team required:</a:t>
            </a:r>
            <a:r>
              <a:rPr lang="en-US" dirty="0"/>
              <a:t> 2–4 security engineers (depending on complexity)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558558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3640D5-8BFF-B7D5-C001-03CEC698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Phases (Annual Plan)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7D1254-7F89-479E-850D-193A7F483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Phase 1 — Initiation (Month 1)</a:t>
            </a:r>
          </a:p>
          <a:p>
            <a:r>
              <a:rPr lang="en-IN" b="1" dirty="0"/>
              <a:t>Deliverables:</a:t>
            </a:r>
            <a:endParaRPr lang="en-IN" dirty="0"/>
          </a:p>
          <a:p>
            <a:r>
              <a:rPr lang="en-IN" dirty="0"/>
              <a:t>Application inventory finalization</a:t>
            </a:r>
          </a:p>
          <a:p>
            <a:r>
              <a:rPr lang="en-IN" dirty="0"/>
              <a:t>Risk ranking (Critical/High/Medium/Low)</a:t>
            </a:r>
          </a:p>
          <a:p>
            <a:r>
              <a:rPr lang="en-IN" dirty="0"/>
              <a:t>Prioritization of apps</a:t>
            </a:r>
          </a:p>
          <a:p>
            <a:r>
              <a:rPr lang="en-IN" dirty="0"/>
              <a:t>Stakeholder onboarding</a:t>
            </a:r>
          </a:p>
          <a:p>
            <a:r>
              <a:rPr lang="en-IN" dirty="0"/>
              <a:t>Define tooling (Burp, Nessus, </a:t>
            </a:r>
            <a:r>
              <a:rPr lang="en-IN" dirty="0" err="1"/>
              <a:t>MobSF</a:t>
            </a:r>
            <a:r>
              <a:rPr lang="en-IN" dirty="0"/>
              <a:t>, ZAP, Postman, etc.)</a:t>
            </a:r>
          </a:p>
          <a:p>
            <a:r>
              <a:rPr lang="en-IN" dirty="0"/>
              <a:t>Establish reporting templates &amp; SLAs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317609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5974A-815F-0C81-0828-5D0A4DDA5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Quarterly Execution Plan (4 Quarters)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8328E9-EDEE-6C5C-24F0-4E6E5F6237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Q1 (Months 1–3) — Foundation + First 12 Apps</a:t>
            </a:r>
          </a:p>
          <a:p>
            <a:r>
              <a:rPr lang="en-US" b="1" dirty="0"/>
              <a:t>Target:</a:t>
            </a:r>
            <a:r>
              <a:rPr lang="en-US" dirty="0"/>
              <a:t> 12 apps</a:t>
            </a:r>
            <a:br>
              <a:rPr lang="en-US" dirty="0"/>
            </a:br>
            <a:r>
              <a:rPr lang="en-US" b="1" dirty="0"/>
              <a:t>Breakdown:</a:t>
            </a:r>
            <a:r>
              <a:rPr lang="en-US" dirty="0"/>
              <a:t> 4 apps/month</a:t>
            </a:r>
            <a:br>
              <a:rPr lang="en-US" dirty="0"/>
            </a:br>
            <a:r>
              <a:rPr lang="en-US" b="1" dirty="0"/>
              <a:t>Activities:</a:t>
            </a:r>
            <a:endParaRPr lang="en-US" dirty="0"/>
          </a:p>
          <a:p>
            <a:r>
              <a:rPr lang="en-US" dirty="0"/>
              <a:t>Set up communication channels (Jira/ServiceNow for tracking)</a:t>
            </a:r>
          </a:p>
          <a:p>
            <a:r>
              <a:rPr lang="en-US" dirty="0"/>
              <a:t>Begin VAPT on first batch</a:t>
            </a:r>
          </a:p>
          <a:p>
            <a:r>
              <a:rPr lang="en-US" dirty="0"/>
              <a:t>Weekly progress reviews</a:t>
            </a:r>
          </a:p>
          <a:p>
            <a:r>
              <a:rPr lang="en-US" dirty="0"/>
              <a:t>Start retests for apps from Month 1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5491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3CCE-EE08-C2AD-6B71-D24C13D41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Q2 (Months 4–6) — Full Execution Mode (13 Apps)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CA91A8-5B81-D173-A3A0-1C94FCDD9A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Target:</a:t>
            </a:r>
            <a:r>
              <a:rPr lang="en-IN" dirty="0"/>
              <a:t> 13 apps</a:t>
            </a:r>
            <a:br>
              <a:rPr lang="en-IN" dirty="0"/>
            </a:br>
            <a:r>
              <a:rPr lang="en-IN" b="1" dirty="0"/>
              <a:t>Breakdown:</a:t>
            </a:r>
            <a:r>
              <a:rPr lang="en-IN" dirty="0"/>
              <a:t> ~4–5 apps/month</a:t>
            </a:r>
            <a:br>
              <a:rPr lang="en-IN" dirty="0"/>
            </a:br>
            <a:r>
              <a:rPr lang="en-IN" b="1" dirty="0"/>
              <a:t>Activities:</a:t>
            </a:r>
            <a:endParaRPr lang="en-IN" dirty="0"/>
          </a:p>
          <a:p>
            <a:r>
              <a:rPr lang="en-IN" dirty="0"/>
              <a:t>Continue testing pipeline</a:t>
            </a:r>
          </a:p>
          <a:p>
            <a:r>
              <a:rPr lang="en-IN" dirty="0"/>
              <a:t>Optimize automation (SAST/DAST + scripts)</a:t>
            </a:r>
          </a:p>
          <a:p>
            <a:r>
              <a:rPr lang="en-IN" dirty="0"/>
              <a:t>Perform mid-year risk assessment</a:t>
            </a:r>
          </a:p>
          <a:p>
            <a:r>
              <a:rPr lang="en-IN" dirty="0"/>
              <a:t>Ensure remediation verification cycle is smooth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252700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D66B2-0DA2-5E69-2EA0-AD6CDA849F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Q3 (Months 7–9) — Peak Productivity (13 Apps)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8BE41-57A3-D1BB-BBB5-5443FB2BF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Target:</a:t>
            </a:r>
            <a:r>
              <a:rPr lang="en-US" dirty="0"/>
              <a:t> 13 apps</a:t>
            </a:r>
            <a:br>
              <a:rPr lang="en-US" dirty="0"/>
            </a:br>
            <a:r>
              <a:rPr lang="en-US" b="1" dirty="0"/>
              <a:t>Breakdown:</a:t>
            </a:r>
            <a:r>
              <a:rPr lang="en-US" dirty="0"/>
              <a:t> ~4–5 apps/month</a:t>
            </a:r>
            <a:br>
              <a:rPr lang="en-US" dirty="0"/>
            </a:br>
            <a:r>
              <a:rPr lang="en-US" b="1" dirty="0"/>
              <a:t>Activities:</a:t>
            </a:r>
            <a:endParaRPr lang="en-US" dirty="0"/>
          </a:p>
          <a:p>
            <a:r>
              <a:rPr lang="en-US" dirty="0"/>
              <a:t>Parallel testing streams</a:t>
            </a:r>
          </a:p>
          <a:p>
            <a:r>
              <a:rPr lang="en-US" dirty="0"/>
              <a:t>Prioritize high-risk apps</a:t>
            </a:r>
          </a:p>
          <a:p>
            <a:r>
              <a:rPr lang="en-US" dirty="0"/>
              <a:t>Do penetration tests before major releases</a:t>
            </a:r>
          </a:p>
          <a:p>
            <a:r>
              <a:rPr lang="en-US" dirty="0"/>
              <a:t>Monthly CISO reporting</a:t>
            </a:r>
          </a:p>
          <a:p>
            <a:r>
              <a:rPr lang="en-US" dirty="0"/>
              <a:t>Retests for Q2 apps</a:t>
            </a:r>
          </a:p>
        </p:txBody>
      </p:sp>
    </p:spTree>
    <p:extLst>
      <p:ext uri="{BB962C8B-B14F-4D97-AF65-F5344CB8AC3E}">
        <p14:creationId xmlns:p14="http://schemas.microsoft.com/office/powerpoint/2010/main" val="1240712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D22C2D-A58A-4703-504F-E4011B4CA4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Q4 (Months 10–12) — Closure + Remaining 12 Apps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ABE734-18BB-3B51-6152-808DF2CC3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Target:</a:t>
            </a:r>
            <a:r>
              <a:rPr lang="en-US" dirty="0"/>
              <a:t> 12 apps</a:t>
            </a:r>
            <a:br>
              <a:rPr lang="en-US" dirty="0"/>
            </a:br>
            <a:r>
              <a:rPr lang="en-US" b="1" dirty="0"/>
              <a:t>Breakdown:</a:t>
            </a:r>
            <a:r>
              <a:rPr lang="en-US" dirty="0"/>
              <a:t> ~4 apps/month</a:t>
            </a:r>
            <a:br>
              <a:rPr lang="en-US" dirty="0"/>
            </a:br>
            <a:r>
              <a:rPr lang="en-US" b="1" dirty="0"/>
              <a:t>Activities:</a:t>
            </a:r>
            <a:endParaRPr lang="en-US" dirty="0"/>
          </a:p>
          <a:p>
            <a:r>
              <a:rPr lang="en-US" dirty="0"/>
              <a:t>Complete tests for last batch</a:t>
            </a:r>
          </a:p>
          <a:p>
            <a:r>
              <a:rPr lang="en-US" dirty="0"/>
              <a:t>Ensure all retests completed</a:t>
            </a:r>
          </a:p>
          <a:p>
            <a:r>
              <a:rPr lang="en-US" dirty="0"/>
              <a:t>Prepare annual security summary</a:t>
            </a:r>
          </a:p>
          <a:p>
            <a:r>
              <a:rPr lang="en-US" dirty="0"/>
              <a:t>Lessons learned + improvements for next year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9056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5B21CDF-F20B-0A83-BF8C-F8C10684AC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17576"/>
            <a:ext cx="1090964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6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Monthly Work Plan (Typical Month)</a:t>
            </a:r>
            <a:endParaRPr lang="en-US" sz="5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58FBBD98-1471-87E0-FAA0-131939130A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881" y="1809541"/>
            <a:ext cx="10909643" cy="687406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marR="0" lvl="0" algn="ctr" fontAlgn="base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1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Outcome:</a:t>
            </a:r>
            <a:r>
              <a:rPr kumimoji="0" lang="en-US" altLang="en-US" sz="2400" b="0" i="0" u="none" strike="noStrike" kern="1200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4–5 apps tested each month by running 2 streams parallel.</a:t>
            </a:r>
          </a:p>
        </p:txBody>
      </p:sp>
      <p:sp>
        <p:nvSpPr>
          <p:cNvPr id="19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07702" y="1733454"/>
            <a:ext cx="4572000" cy="18288"/>
          </a:xfrm>
          <a:custGeom>
            <a:avLst/>
            <a:gdLst>
              <a:gd name="connsiteX0" fmla="*/ 0 w 4572000"/>
              <a:gd name="connsiteY0" fmla="*/ 0 h 18288"/>
              <a:gd name="connsiteX1" fmla="*/ 515983 w 4572000"/>
              <a:gd name="connsiteY1" fmla="*/ 0 h 18288"/>
              <a:gd name="connsiteX2" fmla="*/ 1031966 w 4572000"/>
              <a:gd name="connsiteY2" fmla="*/ 0 h 18288"/>
              <a:gd name="connsiteX3" fmla="*/ 1639389 w 4572000"/>
              <a:gd name="connsiteY3" fmla="*/ 0 h 18288"/>
              <a:gd name="connsiteX4" fmla="*/ 2383971 w 4572000"/>
              <a:gd name="connsiteY4" fmla="*/ 0 h 18288"/>
              <a:gd name="connsiteX5" fmla="*/ 2945674 w 4572000"/>
              <a:gd name="connsiteY5" fmla="*/ 0 h 18288"/>
              <a:gd name="connsiteX6" fmla="*/ 3507377 w 4572000"/>
              <a:gd name="connsiteY6" fmla="*/ 0 h 18288"/>
              <a:gd name="connsiteX7" fmla="*/ 4572000 w 4572000"/>
              <a:gd name="connsiteY7" fmla="*/ 0 h 18288"/>
              <a:gd name="connsiteX8" fmla="*/ 4572000 w 4572000"/>
              <a:gd name="connsiteY8" fmla="*/ 18288 h 18288"/>
              <a:gd name="connsiteX9" fmla="*/ 3873137 w 4572000"/>
              <a:gd name="connsiteY9" fmla="*/ 18288 h 18288"/>
              <a:gd name="connsiteX10" fmla="*/ 3311434 w 4572000"/>
              <a:gd name="connsiteY10" fmla="*/ 18288 h 18288"/>
              <a:gd name="connsiteX11" fmla="*/ 2749731 w 4572000"/>
              <a:gd name="connsiteY11" fmla="*/ 18288 h 18288"/>
              <a:gd name="connsiteX12" fmla="*/ 2050869 w 4572000"/>
              <a:gd name="connsiteY12" fmla="*/ 18288 h 18288"/>
              <a:gd name="connsiteX13" fmla="*/ 1306286 w 4572000"/>
              <a:gd name="connsiteY13" fmla="*/ 18288 h 18288"/>
              <a:gd name="connsiteX14" fmla="*/ 790303 w 4572000"/>
              <a:gd name="connsiteY14" fmla="*/ 18288 h 18288"/>
              <a:gd name="connsiteX15" fmla="*/ 0 w 4572000"/>
              <a:gd name="connsiteY15" fmla="*/ 18288 h 18288"/>
              <a:gd name="connsiteX16" fmla="*/ 0 w 4572000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572000" h="18288" fill="none" extrusionOk="0">
                <a:moveTo>
                  <a:pt x="0" y="0"/>
                </a:moveTo>
                <a:cubicBezTo>
                  <a:pt x="105156" y="-20963"/>
                  <a:pt x="340432" y="822"/>
                  <a:pt x="515983" y="0"/>
                </a:cubicBezTo>
                <a:cubicBezTo>
                  <a:pt x="691534" y="-822"/>
                  <a:pt x="850679" y="16479"/>
                  <a:pt x="1031966" y="0"/>
                </a:cubicBezTo>
                <a:cubicBezTo>
                  <a:pt x="1213253" y="-16479"/>
                  <a:pt x="1443646" y="-18730"/>
                  <a:pt x="1639389" y="0"/>
                </a:cubicBezTo>
                <a:cubicBezTo>
                  <a:pt x="1835132" y="18730"/>
                  <a:pt x="2159975" y="18531"/>
                  <a:pt x="2383971" y="0"/>
                </a:cubicBezTo>
                <a:cubicBezTo>
                  <a:pt x="2607967" y="-18531"/>
                  <a:pt x="2719096" y="-12030"/>
                  <a:pt x="2945674" y="0"/>
                </a:cubicBezTo>
                <a:cubicBezTo>
                  <a:pt x="3172252" y="12030"/>
                  <a:pt x="3269167" y="27666"/>
                  <a:pt x="3507377" y="0"/>
                </a:cubicBezTo>
                <a:cubicBezTo>
                  <a:pt x="3745587" y="-27666"/>
                  <a:pt x="4116741" y="18705"/>
                  <a:pt x="4572000" y="0"/>
                </a:cubicBezTo>
                <a:cubicBezTo>
                  <a:pt x="4572895" y="8974"/>
                  <a:pt x="4571454" y="9359"/>
                  <a:pt x="4572000" y="18288"/>
                </a:cubicBezTo>
                <a:cubicBezTo>
                  <a:pt x="4374698" y="3942"/>
                  <a:pt x="4098874" y="-11042"/>
                  <a:pt x="3873137" y="18288"/>
                </a:cubicBezTo>
                <a:cubicBezTo>
                  <a:pt x="3647400" y="47618"/>
                  <a:pt x="3517055" y="5421"/>
                  <a:pt x="3311434" y="18288"/>
                </a:cubicBezTo>
                <a:cubicBezTo>
                  <a:pt x="3105813" y="31155"/>
                  <a:pt x="3025168" y="17856"/>
                  <a:pt x="2749731" y="18288"/>
                </a:cubicBezTo>
                <a:cubicBezTo>
                  <a:pt x="2474294" y="18720"/>
                  <a:pt x="2291766" y="-14168"/>
                  <a:pt x="2050869" y="18288"/>
                </a:cubicBezTo>
                <a:cubicBezTo>
                  <a:pt x="1809972" y="50744"/>
                  <a:pt x="1540276" y="46798"/>
                  <a:pt x="1306286" y="18288"/>
                </a:cubicBezTo>
                <a:cubicBezTo>
                  <a:pt x="1072296" y="-10222"/>
                  <a:pt x="972445" y="19645"/>
                  <a:pt x="790303" y="18288"/>
                </a:cubicBezTo>
                <a:cubicBezTo>
                  <a:pt x="608161" y="16931"/>
                  <a:pt x="200981" y="8241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572000" h="18288" stroke="0" extrusionOk="0">
                <a:moveTo>
                  <a:pt x="0" y="0"/>
                </a:moveTo>
                <a:cubicBezTo>
                  <a:pt x="143285" y="-9565"/>
                  <a:pt x="327959" y="-11498"/>
                  <a:pt x="561703" y="0"/>
                </a:cubicBezTo>
                <a:cubicBezTo>
                  <a:pt x="795447" y="11498"/>
                  <a:pt x="838260" y="18255"/>
                  <a:pt x="1077686" y="0"/>
                </a:cubicBezTo>
                <a:cubicBezTo>
                  <a:pt x="1317112" y="-18255"/>
                  <a:pt x="1437472" y="23514"/>
                  <a:pt x="1639389" y="0"/>
                </a:cubicBezTo>
                <a:cubicBezTo>
                  <a:pt x="1841306" y="-23514"/>
                  <a:pt x="2037142" y="-12551"/>
                  <a:pt x="2292531" y="0"/>
                </a:cubicBezTo>
                <a:cubicBezTo>
                  <a:pt x="2547920" y="12551"/>
                  <a:pt x="2810436" y="-20352"/>
                  <a:pt x="2991394" y="0"/>
                </a:cubicBezTo>
                <a:cubicBezTo>
                  <a:pt x="3172352" y="20352"/>
                  <a:pt x="3530025" y="-13347"/>
                  <a:pt x="3735977" y="0"/>
                </a:cubicBezTo>
                <a:cubicBezTo>
                  <a:pt x="3941929" y="13347"/>
                  <a:pt x="4161497" y="34086"/>
                  <a:pt x="4572000" y="0"/>
                </a:cubicBezTo>
                <a:cubicBezTo>
                  <a:pt x="4571545" y="6162"/>
                  <a:pt x="4571903" y="11775"/>
                  <a:pt x="4572000" y="18288"/>
                </a:cubicBezTo>
                <a:cubicBezTo>
                  <a:pt x="4228040" y="36490"/>
                  <a:pt x="4199736" y="42557"/>
                  <a:pt x="3873137" y="18288"/>
                </a:cubicBezTo>
                <a:cubicBezTo>
                  <a:pt x="3546538" y="-5981"/>
                  <a:pt x="3472124" y="16809"/>
                  <a:pt x="3128554" y="18288"/>
                </a:cubicBezTo>
                <a:cubicBezTo>
                  <a:pt x="2784984" y="19767"/>
                  <a:pt x="2735896" y="-17781"/>
                  <a:pt x="2383971" y="18288"/>
                </a:cubicBezTo>
                <a:cubicBezTo>
                  <a:pt x="2032046" y="54357"/>
                  <a:pt x="2019324" y="2920"/>
                  <a:pt x="1867989" y="18288"/>
                </a:cubicBezTo>
                <a:cubicBezTo>
                  <a:pt x="1716654" y="33656"/>
                  <a:pt x="1418675" y="32575"/>
                  <a:pt x="1169126" y="18288"/>
                </a:cubicBezTo>
                <a:cubicBezTo>
                  <a:pt x="919577" y="4001"/>
                  <a:pt x="798537" y="16165"/>
                  <a:pt x="561703" y="18288"/>
                </a:cubicBezTo>
                <a:cubicBezTo>
                  <a:pt x="324869" y="20411"/>
                  <a:pt x="221395" y="-912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1" name="Content Placeholder 10">
            <a:extLst>
              <a:ext uri="{FF2B5EF4-FFF2-40B4-BE49-F238E27FC236}">
                <a16:creationId xmlns:a16="http://schemas.microsoft.com/office/drawing/2014/main" id="{58A5FCAC-7C6B-1D5F-D30A-D2208E5BDFC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53972673"/>
              </p:ext>
            </p:extLst>
          </p:nvPr>
        </p:nvGraphicFramePr>
        <p:xfrm>
          <a:off x="320040" y="2756218"/>
          <a:ext cx="11548873" cy="3340865"/>
        </p:xfrm>
        <a:graphic>
          <a:graphicData uri="http://schemas.openxmlformats.org/drawingml/2006/table">
            <a:tbl>
              <a:tblPr/>
              <a:tblGrid>
                <a:gridCol w="2817078">
                  <a:extLst>
                    <a:ext uri="{9D8B030D-6E8A-4147-A177-3AD203B41FA5}">
                      <a16:colId xmlns:a16="http://schemas.microsoft.com/office/drawing/2014/main" val="62643025"/>
                    </a:ext>
                  </a:extLst>
                </a:gridCol>
                <a:gridCol w="8731795">
                  <a:extLst>
                    <a:ext uri="{9D8B030D-6E8A-4147-A177-3AD203B41FA5}">
                      <a16:colId xmlns:a16="http://schemas.microsoft.com/office/drawing/2014/main" val="3954751587"/>
                    </a:ext>
                  </a:extLst>
                </a:gridCol>
              </a:tblGrid>
              <a:tr h="66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Week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Activities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3350395"/>
                  </a:ext>
                </a:extLst>
              </a:tr>
              <a:tr h="66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Week 1</a:t>
                      </a:r>
                      <a:endParaRPr lang="en-IN" sz="3000"/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3000"/>
                        <a:t>Kickoff, gather test creds, enumerate scope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3704110"/>
                  </a:ext>
                </a:extLst>
              </a:tr>
              <a:tr h="66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Week 2</a:t>
                      </a:r>
                      <a:endParaRPr lang="en-IN" sz="3000"/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Deep testing + exploitation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119758"/>
                  </a:ext>
                </a:extLst>
              </a:tr>
              <a:tr h="66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Week 3</a:t>
                      </a:r>
                      <a:endParaRPr lang="en-IN" sz="3000"/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Reporting + risk scoring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0765401"/>
                  </a:ext>
                </a:extLst>
              </a:tr>
              <a:tr h="668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 b="1"/>
                        <a:t>Week 4</a:t>
                      </a:r>
                      <a:endParaRPr lang="en-IN" sz="3000"/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3000"/>
                        <a:t>Developer remediation guidance + retest</a:t>
                      </a:r>
                    </a:p>
                  </a:txBody>
                  <a:tcPr marL="151857" marR="151857" marT="75929" marB="7592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036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67503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5B188-96CF-B16D-8D07-F6D754F22B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Team Planning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3E8D3-FE65-2E2C-866E-05DF699F95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Minimum team size</a:t>
            </a:r>
          </a:p>
          <a:p>
            <a:pPr marL="0" indent="0">
              <a:buNone/>
            </a:pPr>
            <a:r>
              <a:rPr lang="en-US" b="1" dirty="0"/>
              <a:t>	2 Penetration Testers</a:t>
            </a:r>
            <a:r>
              <a:rPr lang="en-US" dirty="0"/>
              <a:t> → 2 apps/month</a:t>
            </a:r>
          </a:p>
          <a:p>
            <a:pPr marL="0" indent="0">
              <a:buNone/>
            </a:pPr>
            <a:r>
              <a:rPr lang="en-US" b="1" dirty="0"/>
              <a:t>	Better:</a:t>
            </a:r>
            <a:r>
              <a:rPr lang="en-US" dirty="0"/>
              <a:t> </a:t>
            </a:r>
            <a:r>
              <a:rPr lang="en-US" b="1" dirty="0"/>
              <a:t>3–4 Testers</a:t>
            </a:r>
            <a:r>
              <a:rPr lang="en-US" dirty="0"/>
              <a:t> → 4–6 apps/month</a:t>
            </a:r>
          </a:p>
          <a:p>
            <a:pPr marL="0" indent="0">
              <a:buNone/>
            </a:pPr>
            <a:r>
              <a:rPr lang="en-US" b="1" dirty="0"/>
              <a:t>	With your expertise (10+ yrs)</a:t>
            </a:r>
            <a:r>
              <a:rPr lang="en-US" dirty="0"/>
              <a:t> → you lead, handle complex 	apps, review reports</a:t>
            </a:r>
          </a:p>
          <a:p>
            <a:r>
              <a:rPr lang="en-US" b="1" dirty="0"/>
              <a:t>Additional roles</a:t>
            </a:r>
          </a:p>
          <a:p>
            <a:pPr marL="0" indent="0">
              <a:buNone/>
            </a:pPr>
            <a:r>
              <a:rPr lang="en-US" dirty="0"/>
              <a:t>	Reporting support</a:t>
            </a:r>
          </a:p>
          <a:p>
            <a:pPr marL="0" indent="0">
              <a:buNone/>
            </a:pPr>
            <a:r>
              <a:rPr lang="en-US" dirty="0"/>
              <a:t>	Program manager (optional but ideal)</a:t>
            </a:r>
          </a:p>
          <a:p>
            <a:pPr marL="0" indent="0">
              <a:buNone/>
            </a:pPr>
            <a:r>
              <a:rPr lang="en-US" dirty="0"/>
              <a:t>	App owners for coordination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7301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DD1F5-F636-96CB-C2A2-50AA10A54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Tools &amp; Automation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D2E34-A644-FC92-B2BE-65C75F17C5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b="1" dirty="0"/>
              <a:t>DAST/SAST</a:t>
            </a:r>
          </a:p>
          <a:p>
            <a:pPr lvl="1"/>
            <a:r>
              <a:rPr lang="en-IN" dirty="0"/>
              <a:t>Burp Suite Pro</a:t>
            </a:r>
          </a:p>
          <a:p>
            <a:pPr lvl="1"/>
            <a:r>
              <a:rPr lang="en-IN" dirty="0"/>
              <a:t>ZAP</a:t>
            </a:r>
          </a:p>
          <a:p>
            <a:pPr lvl="1"/>
            <a:r>
              <a:rPr lang="en-IN" dirty="0"/>
              <a:t>Nessus/Qualys (infra/API)</a:t>
            </a:r>
          </a:p>
          <a:p>
            <a:pPr lvl="1"/>
            <a:r>
              <a:rPr lang="en-IN" dirty="0" err="1"/>
              <a:t>MobSF</a:t>
            </a:r>
            <a:r>
              <a:rPr lang="en-IN" dirty="0"/>
              <a:t> (mobile)</a:t>
            </a:r>
          </a:p>
          <a:p>
            <a:pPr marL="0" indent="0">
              <a:buNone/>
            </a:pPr>
            <a:r>
              <a:rPr lang="en-IN" dirty="0" err="1"/>
              <a:t>Snyk</a:t>
            </a:r>
            <a:r>
              <a:rPr lang="en-IN" dirty="0"/>
              <a:t>/</a:t>
            </a:r>
            <a:r>
              <a:rPr lang="en-IN" dirty="0" err="1"/>
              <a:t>Checkmarx</a:t>
            </a:r>
            <a:r>
              <a:rPr lang="en-IN" dirty="0"/>
              <a:t>/GitHub </a:t>
            </a:r>
            <a:r>
              <a:rPr lang="en-IN" dirty="0" err="1"/>
              <a:t>CodeQL</a:t>
            </a:r>
            <a:r>
              <a:rPr lang="en-IN" dirty="0"/>
              <a:t> (SAST)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b="1" dirty="0"/>
              <a:t>Automation Benefits</a:t>
            </a:r>
          </a:p>
          <a:p>
            <a:pPr marL="0" indent="0">
              <a:buNone/>
            </a:pPr>
            <a:r>
              <a:rPr lang="en-IN" dirty="0"/>
              <a:t>	Reduce manual effort by ~20–30%</a:t>
            </a:r>
          </a:p>
          <a:p>
            <a:pPr marL="0" indent="0">
              <a:buNone/>
            </a:pPr>
            <a:r>
              <a:rPr lang="en-IN" dirty="0"/>
              <a:t>	Faster scanning cycles</a:t>
            </a:r>
          </a:p>
          <a:p>
            <a:pPr marL="0" indent="0">
              <a:buNone/>
            </a:pPr>
            <a:r>
              <a:rPr lang="en-IN" dirty="0"/>
              <a:t>	Better coverage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05231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0D29E-6B29-F4BC-78FB-9050F90D1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Metrics &amp; KPIs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D2767F5-FECC-ADB9-856A-E493EF7677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7116295"/>
              </p:ext>
            </p:extLst>
          </p:nvPr>
        </p:nvGraphicFramePr>
        <p:xfrm>
          <a:off x="838200" y="1871274"/>
          <a:ext cx="10515600" cy="336770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13767088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317314989"/>
                    </a:ext>
                  </a:extLst>
                </a:gridCol>
              </a:tblGrid>
              <a:tr h="67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Target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9406483"/>
                  </a:ext>
                </a:extLst>
              </a:tr>
              <a:tr h="67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Vulnerabilities per app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Track trends (avg High/Critical)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0397906"/>
                  </a:ext>
                </a:extLst>
              </a:tr>
              <a:tr h="67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SLA adherence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95% on-time delivery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4877465"/>
                  </a:ext>
                </a:extLst>
              </a:tr>
              <a:tr h="67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False positives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&lt;5%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521189"/>
                  </a:ext>
                </a:extLst>
              </a:tr>
              <a:tr h="67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 owners satisfaction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&gt;90%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892456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54185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62222-A1A2-439F-A3EE-5EC7449FD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Risk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F6E6FD-F085-195C-1364-DA98A1C22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79407"/>
            <a:ext cx="10515600" cy="3065929"/>
          </a:xfrm>
        </p:spPr>
        <p:txBody>
          <a:bodyPr/>
          <a:lstStyle/>
          <a:p>
            <a:endParaRPr lang="en-US" b="1" dirty="0"/>
          </a:p>
          <a:p>
            <a:r>
              <a:rPr lang="en-US" dirty="0"/>
              <a:t>Blockers in credentials</a:t>
            </a:r>
          </a:p>
          <a:p>
            <a:r>
              <a:rPr lang="en-US" dirty="0"/>
              <a:t>Unstable test environments</a:t>
            </a:r>
          </a:p>
          <a:p>
            <a:r>
              <a:rPr lang="en-US" dirty="0"/>
              <a:t>Late code deployments</a:t>
            </a:r>
          </a:p>
          <a:p>
            <a:r>
              <a:rPr lang="en-US" dirty="0"/>
              <a:t>High app complexity</a:t>
            </a:r>
          </a:p>
          <a:p>
            <a:r>
              <a:rPr lang="en-US" dirty="0"/>
              <a:t>Team bandwidth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1445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369483-ACCE-0DFE-FD92-41EF263C7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Final Year-End Deliverables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0C335F-8ECC-2F2B-A1E2-0B97714DA7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/>
          </a:p>
          <a:p>
            <a:r>
              <a:rPr lang="en-US" dirty="0"/>
              <a:t>50 VAPT reports</a:t>
            </a:r>
          </a:p>
          <a:p>
            <a:r>
              <a:rPr lang="en-US" dirty="0"/>
              <a:t>Retest reports</a:t>
            </a:r>
          </a:p>
          <a:p>
            <a:r>
              <a:rPr lang="en-US" dirty="0"/>
              <a:t>Dashboard of vulnerabilities</a:t>
            </a:r>
          </a:p>
          <a:p>
            <a:r>
              <a:rPr lang="en-US" dirty="0"/>
              <a:t>Attack surface overview</a:t>
            </a:r>
          </a:p>
          <a:p>
            <a:r>
              <a:rPr lang="en-US" dirty="0"/>
              <a:t>Annual security posture summary</a:t>
            </a:r>
          </a:p>
          <a:p>
            <a:r>
              <a:rPr lang="en-US" dirty="0"/>
              <a:t>Recommendations for next cycle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045320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611</Words>
  <Application>Microsoft Office PowerPoint</Application>
  <PresentationFormat>Widescreen</PresentationFormat>
  <Paragraphs>114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Aptos</vt:lpstr>
      <vt:lpstr>Aptos Display</vt:lpstr>
      <vt:lpstr>Arial</vt:lpstr>
      <vt:lpstr>Office Theme</vt:lpstr>
      <vt:lpstr>VAPT Project Annual Plan for 50 Apps</vt:lpstr>
      <vt:lpstr>Summary of Plan</vt:lpstr>
      <vt:lpstr>Annual Project Plan – 50 Apps VAPT in 1 Year</vt:lpstr>
      <vt:lpstr>Project Phases (Annual Plan)</vt:lpstr>
      <vt:lpstr>Quarterly Execution Plan (4 Quarters)</vt:lpstr>
      <vt:lpstr>Q2 (Months 4–6) — Full Execution Mode (13 Apps)</vt:lpstr>
      <vt:lpstr>Q3 (Months 7–9) — Peak Productivity (13 Apps)</vt:lpstr>
      <vt:lpstr>Q4 (Months 10–12) — Closure + Remaining 12 Apps</vt:lpstr>
      <vt:lpstr>Monthly Work Plan (Typical Month)</vt:lpstr>
      <vt:lpstr>Team Planning</vt:lpstr>
      <vt:lpstr>Tools &amp; Automation</vt:lpstr>
      <vt:lpstr>Metrics &amp; KPIs</vt:lpstr>
      <vt:lpstr>Risk Management</vt:lpstr>
      <vt:lpstr>Final Year-End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sandeep yadav</dc:creator>
  <cp:lastModifiedBy>sandeep yadav</cp:lastModifiedBy>
  <cp:revision>1</cp:revision>
  <dcterms:created xsi:type="dcterms:W3CDTF">2025-11-24T08:16:50Z</dcterms:created>
  <dcterms:modified xsi:type="dcterms:W3CDTF">2025-11-24T08:41:44Z</dcterms:modified>
</cp:coreProperties>
</file>